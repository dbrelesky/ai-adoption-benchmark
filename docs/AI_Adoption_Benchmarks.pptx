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 want to tackle a question I know we're all asking: in this Cambrian explosion of AI creativity, where should our teams actually be? I'll share some industry benchmarks, we'll score ourselves live, and I'll propose a framework for the council. Let's start with a quick gut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intro: I'm Darren, EVP Product at CBS Digital. About 250 people across Product, Design, Engineering. We're in pockets of adoption right now. Before I show any data — quick poll: what percentage of your engineering output do you think is AI-authored today? Shout it out. [PAUSE - note the range]. Keep your number in mind. I'm going to show you what 135,000 developers actually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your number? The industry average is 22% of merged code is AI-authored, across 135,000 developers. But here's the context: 88% of orgs are using AI somewhere, 82% of developers use AI tools weekly, and Gartner says 40% of enterprise apps will have AI agents by end of year. The leading companies are already at 41-42% AI code. The sweet spot is 25-40% — above that, you start seeing 20-30% rework rates. Average developer saves 3.6 hours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interactive moment. I've dropped a link in the chat — open it on your phone. You'll see five dimensions. For each one, score your org 1 to 5. Be honest — this is anonymous. While you're filling it out, let me walk through what the industry benchmarks look like for each dimension. [Walk through each card]. Engineering: 22% average, leaders at 41-42%. Testing: 89% piloting but only 25% auto coverage. Consumer Insights: 68% of marketing teams use AI daily. Talent: only 20% of orgs say they're AI-ready — that's the biggest gap. Take another minute to finish your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data and your scores, here's a maturity model. Phase 1, Experimenting — this is where most companies still are. Individual tool use, low AI code, no strategy. Phase 2, Embedding — this is where I believe we should be RIGHT NOW. AI integrated into workflows, 20-30% AI code, AI in pipelines, literacy programs running. Phase 3, Scaling — our target by end of 2026. Agents in production, 30-40% code, AI-first test strategy, dedicated roles and budget. Where did your scores land? That tells you which phase you're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just took the first version of this assessment. Here's the formal proposal: five dimensions, weighted, scored 1 to 5. Code &amp; Delivery at 25%, Quality &amp; Testing at 20%, Consumer Intelligence at 20%, Talent &amp; Culture at 20% — because the data shows this is where most of us are weakest — and Governance at 15%. The idea: do this quarterly, share scores anonymously across the council, and use the comparison to learn from each other. This doesn't have to be heavy — it's the scorecard you just filled out, done every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updated the first discussion question based on the live poll — 'where did your scores surprise you?' is more specific and personal than 'where does your org fall.' The rest: would we commit to a shared benchmark? What dimensions am I missing? And the hardest one — how do we hold each other accountable without it becoming a box-checking exercise? I need three volunteers willing to fill out the full scorecard for next quarter so we have real data to compare. Who's in?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36454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731520"/>
            <a:ext cx="2743200" cy="27432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600" kern="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BENCHMARKING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 Adoption Across Teams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Are we getting lapped, or right on target?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097280" cy="27432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Product Council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93192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365760"/>
            <a:ext cx="3931920" cy="36576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My Working Context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809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Darren Brelesky  |  EVP, Product  |  CBS Digital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2286000" cy="18288"/>
          </a:xfrm>
          <a:prstGeom prst="rect">
            <a:avLst/>
          </a:prstGeom>
          <a:solidFill>
            <a:srgbClr val="C8CDD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~250 people across Product, Design, Engineering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Pockets of AI adoption — some teams shipping, others experimenting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Feeling the tension: stay energized by possibilities while setting realistic goals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3383280" cy="18288"/>
          </a:xfrm>
          <a:prstGeom prst="rect">
            <a:avLst/>
          </a:prstGeom>
          <a:solidFill>
            <a:srgbClr val="C8CDD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0809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I'M WRESTLING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much of my eng team should focus on AI delivery?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Are we getting lapped or right on target?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 we benchmark this across the council?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365760"/>
            <a:ext cx="3931920" cy="43891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640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QUICK POLL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0" y="36576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2A343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?</a:t>
            </a:r>
            <a:endParaRPr lang="en-US" sz="14000" dirty="0"/>
          </a:p>
        </p:txBody>
      </p:sp>
      <p:sp>
        <p:nvSpPr>
          <p:cNvPr id="14" name="Text 12"/>
          <p:cNvSpPr/>
          <p:nvPr/>
        </p:nvSpPr>
        <p:spPr>
          <a:xfrm>
            <a:off x="5120640" y="11887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percentage of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your engineering output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is AI-authored today?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0640" y="3017520"/>
            <a:ext cx="3200400" cy="18288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2944368"/>
            <a:ext cx="13716" cy="146304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1272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2944368"/>
            <a:ext cx="13716" cy="146304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31272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2944368"/>
            <a:ext cx="13716" cy="146304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1272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40880" y="2944368"/>
            <a:ext cx="13716" cy="146304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1272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80960" y="2944368"/>
            <a:ext cx="13716" cy="146304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31272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21040" y="2944368"/>
            <a:ext cx="13716" cy="146304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31272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50%+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809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Shout it out. No wrong answers.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3200400" cy="2834640"/>
          </a:xfrm>
          <a:prstGeom prst="rect">
            <a:avLst/>
          </a:prstGeom>
          <a:solidFill>
            <a:srgbClr val="2A34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AI-AUTHORED CODE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22%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of merged code  |  135K+ devs surveyed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920240" cy="18288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Sweet spot: 25-40%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Above 40% = rising tech debt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051560"/>
            <a:ext cx="4434840" cy="822960"/>
          </a:xfrm>
          <a:prstGeom prst="rect">
            <a:avLst/>
          </a:prstGeom>
          <a:solidFill>
            <a:srgbClr val="2A343C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88%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623560" y="11247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of orgs use AI in at least one function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1554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Deloitte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2011680"/>
            <a:ext cx="4434840" cy="8229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623560" y="2084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of developers use AI tools weekly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2514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DX Q4 2025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51960" y="2971800"/>
            <a:ext cx="4434840" cy="822960"/>
          </a:xfrm>
          <a:prstGeom prst="rect">
            <a:avLst/>
          </a:prstGeom>
          <a:solidFill>
            <a:srgbClr val="2A343C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623560" y="3044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of enterprise apps will have AI agents by EOY '26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3474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Gartner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7955280" cy="502920"/>
          </a:xfrm>
          <a:prstGeom prst="rect">
            <a:avLst/>
          </a:prstGeom>
          <a:solidFill>
            <a:srgbClr val="4A5A6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605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Leading companies: 41-42% AI code   |   Avg. dev saves 3.6 hrs/week   |   33-36% reduction in dev time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Score Your Organization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09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Open the poll on your phone. Rate each dimension 1-5 for your org.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37960" y="182880"/>
            <a:ext cx="22860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/sessions/fervent-pensive-ride/qr-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7432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SCAN TO SCORE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325880"/>
            <a:ext cx="45720" cy="1417320"/>
          </a:xfrm>
          <a:prstGeom prst="rect">
            <a:avLst/>
          </a:prstGeom>
          <a:solidFill>
            <a:srgbClr val="3645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356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0809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291840" y="13716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22-42%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3152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of code AI-authored across the industry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Leading orgs at 41-42%  |  Sweet spot: 25-40%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2331720"/>
            <a:ext cx="3566160" cy="274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much of your code is AI-authored?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32588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325880"/>
            <a:ext cx="45720" cy="1417320"/>
          </a:xfrm>
          <a:prstGeom prst="rect">
            <a:avLst/>
          </a:prstGeom>
          <a:solidFill>
            <a:srgbClr val="3645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6636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0809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TESTING &amp; QA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406640" y="13716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89%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484632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piloting gen-AI QA workflows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25% avg auto test coverage  |  Target: 50%+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46320" y="2331720"/>
            <a:ext cx="3566160" cy="274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2" name="Text 17"/>
          <p:cNvSpPr/>
          <p:nvPr/>
        </p:nvSpPr>
        <p:spPr>
          <a:xfrm>
            <a:off x="498348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Is AI embedded in your test pipeline?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29718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2971800"/>
            <a:ext cx="45720" cy="1417320"/>
          </a:xfrm>
          <a:prstGeom prst="rect">
            <a:avLst/>
          </a:prstGeom>
          <a:solidFill>
            <a:srgbClr val="36454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8152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3081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0809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CONSUMER INSIGHTS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3291840" y="3017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68%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73152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of sales/marketing use AI daily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75% of enterprises adopted AI in marketing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31520" y="3977640"/>
            <a:ext cx="3566160" cy="274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0" name="Text 24"/>
          <p:cNvSpPr/>
          <p:nvPr/>
        </p:nvSpPr>
        <p:spPr>
          <a:xfrm>
            <a:off x="86868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Are AI-powered insights in production?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663440" y="29718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663440" y="2971800"/>
            <a:ext cx="45720" cy="1417320"/>
          </a:xfrm>
          <a:prstGeom prst="rect">
            <a:avLst/>
          </a:prstGeom>
          <a:solidFill>
            <a:srgbClr val="36454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81528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66360" y="3081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0809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TALENT &amp; READINESS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7406640" y="3017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20%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484632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of orgs say talent is AI-ready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Skills gap = #1 barrier  |  Only 60% have tool access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846320" y="3977640"/>
            <a:ext cx="3566160" cy="274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8" name="Text 31"/>
          <p:cNvSpPr/>
          <p:nvPr/>
        </p:nvSpPr>
        <p:spPr>
          <a:xfrm>
            <a:off x="498348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Is your team trained and ready?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Where Should We Be?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7315200" cy="27432"/>
          </a:xfrm>
          <a:prstGeom prst="rect">
            <a:avLst/>
          </a:prstGeom>
          <a:solidFill>
            <a:srgbClr val="4A5A68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1078992"/>
            <a:ext cx="320040" cy="320040"/>
          </a:xfrm>
          <a:prstGeom prst="ellipse">
            <a:avLst/>
          </a:prstGeom>
          <a:solidFill>
            <a:srgbClr val="95A0A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2468880" cy="3017520"/>
          </a:xfrm>
          <a:prstGeom prst="rect">
            <a:avLst/>
          </a:prstGeom>
          <a:solidFill>
            <a:srgbClr val="2A343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2468880" cy="36576"/>
          </a:xfrm>
          <a:prstGeom prst="rect">
            <a:avLst/>
          </a:prstGeom>
          <a:solidFill>
            <a:srgbClr val="95A0A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Experimenting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Where most are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371600" cy="18288"/>
          </a:xfrm>
          <a:prstGeom prst="rect">
            <a:avLst/>
          </a:prstGeom>
          <a:solidFill>
            <a:srgbClr val="4A5A6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2608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Individual AI tool use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&lt;15% AI-authored 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Ad-hoc testing with AI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AI staffing strategy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078992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645920"/>
            <a:ext cx="2468880" cy="3017520"/>
          </a:xfrm>
          <a:prstGeom prst="rect">
            <a:avLst/>
          </a:prstGeom>
          <a:solidFill>
            <a:srgbClr val="2A343C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1645920"/>
            <a:ext cx="246888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Embedding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2900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Where you should be now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2788920"/>
            <a:ext cx="1371600" cy="18288"/>
          </a:xfrm>
          <a:prstGeom prst="rect">
            <a:avLst/>
          </a:prstGeom>
          <a:solidFill>
            <a:srgbClr val="4A5A68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92608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 in standard workflows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20-30% AI-authored 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 in CI/CD pipelines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 literacy programs live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1078992"/>
            <a:ext cx="320040" cy="320040"/>
          </a:xfrm>
          <a:prstGeom prst="ellipse">
            <a:avLst/>
          </a:prstGeom>
          <a:solidFill>
            <a:srgbClr val="D3D3D3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1645920"/>
            <a:ext cx="2468880" cy="3017520"/>
          </a:xfrm>
          <a:prstGeom prst="rect">
            <a:avLst/>
          </a:prstGeom>
          <a:solidFill>
            <a:srgbClr val="2A343C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1645920"/>
            <a:ext cx="2468880" cy="36576"/>
          </a:xfrm>
          <a:prstGeom prst="rect">
            <a:avLst/>
          </a:prstGeom>
          <a:solidFill>
            <a:srgbClr val="D3D3D3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Scaling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2648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Target by EOY 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788920"/>
            <a:ext cx="1371600" cy="18288"/>
          </a:xfrm>
          <a:prstGeom prst="rect">
            <a:avLst/>
          </a:prstGeom>
          <a:solidFill>
            <a:srgbClr val="4A5A68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92608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 agents in production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30-40% AI-authored 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AI-first test strategy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Dedicated AI roles &amp; budget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Proposed: Council-Wide Benchmark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09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 just took the first version. Let's formalize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45720" cy="566928"/>
          </a:xfrm>
          <a:prstGeom prst="rect">
            <a:avLst/>
          </a:prstGeom>
          <a:solidFill>
            <a:srgbClr val="3645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081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984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Code &amp; Delivery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520440" y="129844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% AI-authored code, CI/CD integration, agent deployment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0" y="129844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25%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1938528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1938528"/>
            <a:ext cx="45720" cy="566928"/>
          </a:xfrm>
          <a:prstGeom prst="rect">
            <a:avLst/>
          </a:prstGeom>
          <a:solidFill>
            <a:srgbClr val="3645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6654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195681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Quality &amp; Testing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195681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 in test automation, coverage %, defect prediction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315200" y="195681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20%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731520" y="2596896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2596896"/>
            <a:ext cx="45720" cy="566928"/>
          </a:xfrm>
          <a:prstGeom prst="rect">
            <a:avLst/>
          </a:prstGeom>
          <a:solidFill>
            <a:srgbClr val="3645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2491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26151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Consumer Intelligence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520440" y="261518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AI-powered insights in prod, personalization, analytics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315200" y="261518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20%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731520" y="3255264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3255264"/>
            <a:ext cx="45720" cy="566928"/>
          </a:xfrm>
          <a:prstGeom prst="rect">
            <a:avLst/>
          </a:prstGeom>
          <a:solidFill>
            <a:srgbClr val="3645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8328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32735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Talent &amp; Culture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3520440" y="32735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Training coverage, AI literacy, dedicated AI roles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315200" y="327355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20%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731520" y="3913632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31520" y="3913632"/>
            <a:ext cx="45720" cy="566928"/>
          </a:xfrm>
          <a:prstGeom prst="rect">
            <a:avLst/>
          </a:prstGeom>
          <a:solidFill>
            <a:srgbClr val="36454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41648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63040" y="39319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Governance &amp; Scale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520440" y="393192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Governance maturity, vendor strategy, risk management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7315200" y="393192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15%</a:t>
            </a:r>
            <a:endParaRPr lang="en-US" sz="1800" dirty="0"/>
          </a:p>
        </p:txBody>
      </p:sp>
      <p:sp>
        <p:nvSpPr>
          <p:cNvPr id="34" name="Shape 27"/>
          <p:cNvSpPr/>
          <p:nvPr/>
        </p:nvSpPr>
        <p:spPr>
          <a:xfrm>
            <a:off x="1371600" y="4572000"/>
            <a:ext cx="6400800" cy="384048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5" name="Text 28"/>
          <p:cNvSpPr/>
          <p:nvPr/>
        </p:nvSpPr>
        <p:spPr>
          <a:xfrm>
            <a:off x="1371600" y="45720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Score 1-5  |  Quarterly self-assessment  |  Anonymous council comparison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828800" cy="27432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Let's Discuss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914400" cy="27432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Where did your scores surprise you?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Is a council-wide benchmark something we'd commit to?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What dimensions are we missing?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D3D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How do we stay accountable without it becoming performative?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1371600" cy="27432"/>
          </a:xfrm>
          <a:prstGeom prst="rect">
            <a:avLst/>
          </a:prstGeom>
          <a:solidFill>
            <a:srgbClr val="70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3474720"/>
            <a:ext cx="1371600" cy="1371600"/>
          </a:xfrm>
          <a:prstGeom prst="rect">
            <a:avLst/>
          </a:prstGeom>
          <a:solidFill>
            <a:srgbClr val="2A343C"/>
          </a:solidFill>
          <a:ln/>
        </p:spPr>
      </p:sp>
      <p:pic>
        <p:nvPicPr>
          <p:cNvPr id="11" name="Image 0" descr="/sessions/fervent-pensive-ride/qr-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566160"/>
            <a:ext cx="1097280" cy="10972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0" y="4617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5A0A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SCAN TO SCORE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Benchmarking AI Adoption Across Teams</dc:title>
  <dc:subject>PptxGenJS Presentation</dc:subject>
  <dc:creator>Darren</dc:creator>
  <cp:lastModifiedBy>Darren</cp:lastModifiedBy>
  <cp:revision>1</cp:revision>
  <dcterms:created xsi:type="dcterms:W3CDTF">2026-04-13T14:36:48Z</dcterms:created>
  <dcterms:modified xsi:type="dcterms:W3CDTF">2026-04-13T14:36:48Z</dcterms:modified>
</cp:coreProperties>
</file>